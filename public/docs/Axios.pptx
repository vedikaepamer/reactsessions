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024C-1FA7-DD7B-B97D-983F30613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735E61-D99B-33C2-5F1B-1791182A6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C7BBC-6D18-B8E5-8217-B92540CE6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C346-8A7E-4322-987D-4E5CE89C0DE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EC65E-8D51-D5E4-F7CA-E004D6F8F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9894E-48AD-203B-BDE0-925DEA2D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1560-4777-4796-82FF-9462357AA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120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E9997-5E8C-1FDA-3A55-4967C766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A0121-A736-CDAF-8A9F-CBB06EC57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56A1A-4236-CB4D-CF9B-976BA0C4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C346-8A7E-4322-987D-4E5CE89C0DE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16769-2FB8-E67D-6636-495192DE9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F10F2-5A20-C4B8-6D06-736A0F39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1560-4777-4796-82FF-9462357AA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342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D69CB-3AC9-3D69-046B-E28F30FA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0E27A-78A5-99EC-0002-F8969E89D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5A4A7-083D-292C-9958-E8869E301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C346-8A7E-4322-987D-4E5CE89C0DE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11E68-4B5F-7AD0-3E11-A19C8207E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1C40D-7E2D-43DC-5934-CFA53BCAE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1560-4777-4796-82FF-9462357AA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906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8B6F5-C8B2-D726-AB41-5F808CBD4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C3B09-5CB4-B3E2-A762-FC689CA47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9436D-DB4F-161C-F15A-B366BAA7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B4B9E-4680-DA59-C2CC-6CD0786EE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C346-8A7E-4322-987D-4E5CE89C0DE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4BDFB-80FF-F2A5-FD7D-CC6E69D3A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E250E-FA5F-7221-BC01-ABBAB7D6A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1560-4777-4796-82FF-9462357AA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858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2B3BB-F8EA-0222-515D-A112D8D0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ECF96-E816-2B50-210E-725D53FCA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55057-D871-7860-3F15-04B06C270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ABEE77-F599-C277-9E3F-7280809F93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536896-1C4D-4D6B-820B-9A1F4BA483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6D949C-9D43-CAC5-E60A-74B6E7A1C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C346-8A7E-4322-987D-4E5CE89C0DE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528EE0-EDC6-2C64-5526-4114B1816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81E3E0-6990-9C01-8245-BC436975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1560-4777-4796-82FF-9462357AA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444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76A3-52D5-F510-E726-476760B27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5A0AA3-15B1-41F1-21EC-B8F8E2C26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C346-8A7E-4322-987D-4E5CE89C0DE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74E79F-58A3-5544-288D-C86BD5477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166D6-3093-E3BE-B9F4-763A2586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1560-4777-4796-82FF-9462357AA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118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325CC-6BF6-DC56-B04F-33AD083D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C346-8A7E-4322-987D-4E5CE89C0DE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866A5D-B7FE-7162-129B-324692BE4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F47C9-346A-5029-D323-6AE47B06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1560-4777-4796-82FF-9462357AA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19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31F5E-D6AC-B610-BA53-818ED5D4D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95822-7E56-0E3A-EAFD-24159F162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7847C-B9D9-0A65-50D1-77A034438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C2AA6-12C9-8DE3-AD49-CA0F7E6C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C346-8A7E-4322-987D-4E5CE89C0DE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8DAFF-9F00-9EE2-327C-A72FD592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70C46-D1FD-B80F-1064-7288BE01F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1560-4777-4796-82FF-9462357AA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489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1CD6-752D-2476-8D94-9043D89AB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53E506-CF5A-23B9-2EB1-6905054EA5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E5321-FA5E-AC04-B3EB-4CBBE9B76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48B02-9C8B-FA22-8908-B7F4DA42F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C346-8A7E-4322-987D-4E5CE89C0DE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98214-9424-6EDD-0C38-09E1078D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790F5-12D4-2B7B-88BF-DC7AAA383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1560-4777-4796-82FF-9462357AA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877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41B9C-3643-A60A-AB8E-CC672FAC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39DE4-59AB-33A0-6E8E-5D242142B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179AC-0147-39C3-CB58-97FE1FDBF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C346-8A7E-4322-987D-4E5CE89C0DE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64A13-AD52-09C7-8E2B-0357319B4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5CC12-4E62-510D-CBE0-2AA24F69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1560-4777-4796-82FF-9462357AA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149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71875D-AE76-B6CB-79C0-2AF3A53F7A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97D89-64BB-AEEB-8DDB-1764849B3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CDC43-1C6C-203D-749D-38D08FCFA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C346-8A7E-4322-987D-4E5CE89C0DE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FF00A-2FB6-FF54-7C7F-045AE4A71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986B-A8E7-9009-A02A-E765B33C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1560-4777-4796-82FF-9462357AA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68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07E8F1-2439-768A-E7F6-5046C961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D0E64-99AF-79C5-A7D3-4513F8276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CD715-C100-DC3B-2945-8312266424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44C346-8A7E-4322-987D-4E5CE89C0DE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6514B-2A79-81E1-DC08-A979B0A34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36AEA-5594-13A3-B988-10566D559D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B1560-4777-4796-82FF-9462357AA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80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C3C9CE-402A-5F5B-A97A-7138C5BB1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01FBDC-0355-78CB-BF07-4A9ABF8C0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735412"/>
              </p:ext>
            </p:extLst>
          </p:nvPr>
        </p:nvGraphicFramePr>
        <p:xfrm>
          <a:off x="643467" y="1004680"/>
          <a:ext cx="10905067" cy="4848640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65000"/>
                    <a:lumOff val="35000"/>
                  </a:schemeClr>
                </a:solidFill>
              </a:tblPr>
              <a:tblGrid>
                <a:gridCol w="6044489">
                  <a:extLst>
                    <a:ext uri="{9D8B030D-6E8A-4147-A177-3AD203B41FA5}">
                      <a16:colId xmlns:a16="http://schemas.microsoft.com/office/drawing/2014/main" val="3216601935"/>
                    </a:ext>
                  </a:extLst>
                </a:gridCol>
                <a:gridCol w="2688092">
                  <a:extLst>
                    <a:ext uri="{9D8B030D-6E8A-4147-A177-3AD203B41FA5}">
                      <a16:colId xmlns:a16="http://schemas.microsoft.com/office/drawing/2014/main" val="2537655704"/>
                    </a:ext>
                  </a:extLst>
                </a:gridCol>
                <a:gridCol w="2172486">
                  <a:extLst>
                    <a:ext uri="{9D8B030D-6E8A-4147-A177-3AD203B41FA5}">
                      <a16:colId xmlns:a16="http://schemas.microsoft.com/office/drawing/2014/main" val="2360635119"/>
                    </a:ext>
                  </a:extLst>
                </a:gridCol>
              </a:tblGrid>
              <a:tr h="606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kern="1200" cap="none" spc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Feature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FFFFFF"/>
                          </a:solidFill>
                        </a:rPr>
                        <a:t>fetch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FFFFFF"/>
                          </a:solidFill>
                        </a:rPr>
                        <a:t>axios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984723"/>
                  </a:ext>
                </a:extLst>
              </a:tr>
              <a:tr h="606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FFFFFF"/>
                          </a:solidFill>
                        </a:rPr>
                        <a:t>Built-in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rgbClr val="FFFFFF"/>
                          </a:solidFill>
                        </a:rPr>
                        <a:t>✅ Yes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rgbClr val="FFFFFF"/>
                          </a:solidFill>
                        </a:rPr>
                        <a:t>❌ No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987557"/>
                  </a:ext>
                </a:extLst>
              </a:tr>
              <a:tr h="606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FFFFFF"/>
                          </a:solidFill>
                        </a:rPr>
                        <a:t>JSON auto parsing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rgbClr val="FFFFFF"/>
                          </a:solidFill>
                        </a:rPr>
                        <a:t>❌ No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rgbClr val="FFFFFF"/>
                          </a:solidFill>
                        </a:rPr>
                        <a:t>✅ Yes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770642"/>
                  </a:ext>
                </a:extLst>
              </a:tr>
              <a:tr h="606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rgbClr val="FFFFFF"/>
                          </a:solidFill>
                        </a:rPr>
                        <a:t>Handles HTTP errors automatically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FFFFFF"/>
                          </a:solidFill>
                        </a:rPr>
                        <a:t>❌ No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rgbClr val="FFFFFF"/>
                          </a:solidFill>
                        </a:rPr>
                        <a:t>✅ Yes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267846"/>
                  </a:ext>
                </a:extLst>
              </a:tr>
              <a:tr h="606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FFFFFF"/>
                          </a:solidFill>
                        </a:rPr>
                        <a:t>Interceptors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FFFFFF"/>
                          </a:solidFill>
                        </a:rPr>
                        <a:t>❌ No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rgbClr val="FFFFFF"/>
                          </a:solidFill>
                        </a:rPr>
                        <a:t>✅ Yes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62443"/>
                  </a:ext>
                </a:extLst>
              </a:tr>
              <a:tr h="606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rgbClr val="FFFFFF"/>
                          </a:solidFill>
                        </a:rPr>
                        <a:t>Request cancellation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FFFFFF"/>
                          </a:solidFill>
                        </a:rPr>
                        <a:t>⚠️ Harder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rgbClr val="FFFFFF"/>
                          </a:solidFill>
                        </a:rPr>
                        <a:t>✅ Easier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838676"/>
                  </a:ext>
                </a:extLst>
              </a:tr>
              <a:tr h="606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rgbClr val="FFFFFF"/>
                          </a:solidFill>
                        </a:rPr>
                        <a:t>Timeout support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rgbClr val="FFFFFF"/>
                          </a:solidFill>
                        </a:rPr>
                        <a:t>❌ No built-in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FFFFFF"/>
                          </a:solidFill>
                        </a:rPr>
                        <a:t>✅ Yes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234658"/>
                  </a:ext>
                </a:extLst>
              </a:tr>
              <a:tr h="606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FFFFFF"/>
                          </a:solidFill>
                        </a:rPr>
                        <a:t>Request/Response transform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FFFFFF"/>
                          </a:solidFill>
                        </a:rPr>
                        <a:t>❌ Manual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FFFFFF"/>
                          </a:solidFill>
                        </a:rPr>
                        <a:t>✅ Built-in</a:t>
                      </a:r>
                    </a:p>
                  </a:txBody>
                  <a:tcPr marL="142783" marR="142783" marT="71392" marB="713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277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3591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EB62A5-F5ED-B02B-09DF-2C14979062EA}"/>
              </a:ext>
            </a:extLst>
          </p:cNvPr>
          <p:cNvSpPr txBox="1"/>
          <p:nvPr/>
        </p:nvSpPr>
        <p:spPr>
          <a:xfrm>
            <a:off x="388007" y="178677"/>
            <a:ext cx="1136255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Axios interceptors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They let you: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Modify requests before they are sent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Handle responses globally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Catch errors in one place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Add auth tokens automatically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Log API activity</a:t>
            </a:r>
          </a:p>
          <a:p>
            <a:pPr>
              <a:buNone/>
            </a:pPr>
            <a:br>
              <a:rPr lang="en-IN" dirty="0"/>
            </a:br>
            <a:br>
              <a:rPr lang="en-IN" dirty="0"/>
            </a:br>
            <a:r>
              <a:rPr lang="en-IN" dirty="0"/>
              <a:t>Request Interceptor:</a:t>
            </a:r>
          </a:p>
          <a:p>
            <a:pPr>
              <a:buNone/>
            </a:pPr>
            <a:r>
              <a:rPr lang="en-US" dirty="0"/>
              <a:t>This runs </a:t>
            </a:r>
            <a:r>
              <a:rPr lang="en-US" b="1" dirty="0"/>
              <a:t>before every request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Example use cases: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token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 request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Modify headers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dirty="0"/>
              <a:t>Response Interceptor:</a:t>
            </a:r>
            <a:br>
              <a:rPr lang="en-IN" dirty="0"/>
            </a:br>
            <a:r>
              <a:rPr lang="en-US" dirty="0"/>
              <a:t>This runs </a:t>
            </a:r>
            <a:r>
              <a:rPr lang="en-US" b="1" dirty="0"/>
              <a:t>after every response</a:t>
            </a:r>
            <a:r>
              <a:rPr lang="en-US" dirty="0"/>
              <a:t>.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762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60A86B-3B0A-EDFF-68EE-499453CE0A73}"/>
              </a:ext>
            </a:extLst>
          </p:cNvPr>
          <p:cNvSpPr txBox="1"/>
          <p:nvPr/>
        </p:nvSpPr>
        <p:spPr>
          <a:xfrm>
            <a:off x="431800" y="348103"/>
            <a:ext cx="11028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/>
              <a:t>comparing:</a:t>
            </a:r>
          </a:p>
          <a:p>
            <a:pPr algn="ctr"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</a:rPr>
              <a:t>axios.create</a:t>
            </a:r>
            <a:r>
              <a:rPr lang="en-US" dirty="0">
                <a:latin typeface="Courier New" panose="02070309020205020404" pitchFamily="49" charset="0"/>
              </a:rPr>
              <a:t>({...})</a:t>
            </a:r>
            <a:endParaRPr lang="en-US" dirty="0"/>
          </a:p>
          <a:p>
            <a:pPr algn="ctr"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</a:rPr>
              <a:t>axios.interceptors</a:t>
            </a:r>
            <a:endParaRPr lang="en-US" dirty="0"/>
          </a:p>
          <a:p>
            <a:pPr algn="ctr">
              <a:buNone/>
            </a:pPr>
            <a:r>
              <a:rPr lang="en-US" dirty="0"/>
              <a:t>They solve </a:t>
            </a:r>
            <a:r>
              <a:rPr lang="en-US" b="1" dirty="0"/>
              <a:t>different problems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B6E4EE-22E6-0AE0-36AD-C895EB8C025A}"/>
              </a:ext>
            </a:extLst>
          </p:cNvPr>
          <p:cNvSpPr txBox="1"/>
          <p:nvPr/>
        </p:nvSpPr>
        <p:spPr>
          <a:xfrm>
            <a:off x="169334" y="1896871"/>
            <a:ext cx="5537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>
                <a:latin typeface="Courier New" panose="02070309020205020404" pitchFamily="49" charset="0"/>
              </a:rPr>
              <a:t>axios.create</a:t>
            </a:r>
            <a:r>
              <a:rPr lang="en-IN" b="1" dirty="0">
                <a:latin typeface="Courier New" panose="02070309020205020404" pitchFamily="49" charset="0"/>
              </a:rPr>
              <a:t>()</a:t>
            </a:r>
            <a:r>
              <a:rPr lang="en-IN" b="1" dirty="0"/>
              <a:t> → Configuration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export </a:t>
            </a: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</a:t>
            </a:r>
            <a:r>
              <a:rPr lang="en-IN" dirty="0" err="1">
                <a:latin typeface="Courier New" panose="02070309020205020404" pitchFamily="49" charset="0"/>
              </a:rPr>
              <a:t>apiClient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axios.create</a:t>
            </a:r>
            <a:r>
              <a:rPr lang="en-IN" dirty="0">
                <a:latin typeface="Courier New" panose="02070309020205020404" pitchFamily="49" charset="0"/>
              </a:rPr>
              <a:t>({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baseURL</a:t>
            </a:r>
            <a:r>
              <a:rPr lang="en-IN" dirty="0">
                <a:latin typeface="Courier New" panose="02070309020205020404" pitchFamily="49" charset="0"/>
              </a:rPr>
              <a:t>: "http://localhost:3000",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headers: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"Content-Type": "application/</a:t>
            </a:r>
            <a:r>
              <a:rPr lang="en-IN" dirty="0" err="1">
                <a:latin typeface="Courier New" panose="02070309020205020404" pitchFamily="49" charset="0"/>
              </a:rPr>
              <a:t>json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},</a:t>
            </a:r>
          </a:p>
          <a:p>
            <a:r>
              <a:rPr lang="en-IN" dirty="0">
                <a:latin typeface="Courier New" panose="02070309020205020404" pitchFamily="49" charset="0"/>
              </a:rPr>
              <a:t>});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US" dirty="0"/>
              <a:t>It creates a </a:t>
            </a:r>
            <a:r>
              <a:rPr lang="en-US" b="1" dirty="0"/>
              <a:t>custom Axios instance</a:t>
            </a:r>
            <a:r>
              <a:rPr lang="en-US" dirty="0"/>
              <a:t> with:</a:t>
            </a:r>
          </a:p>
          <a:p>
            <a:r>
              <a:rPr lang="en-US" dirty="0"/>
              <a:t>Default </a:t>
            </a:r>
            <a:r>
              <a:rPr lang="en-US" dirty="0" err="1"/>
              <a:t>baseURL</a:t>
            </a:r>
            <a:endParaRPr lang="en-US" dirty="0"/>
          </a:p>
          <a:p>
            <a:r>
              <a:rPr lang="en-US" dirty="0"/>
              <a:t>Default headers</a:t>
            </a:r>
          </a:p>
          <a:p>
            <a:r>
              <a:rPr lang="en-US" dirty="0"/>
              <a:t>Default timeout</a:t>
            </a:r>
          </a:p>
          <a:p>
            <a:r>
              <a:rPr lang="en-US" dirty="0"/>
              <a:t>Default config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6353B1-14A4-FCCD-EF72-99783C0DC6B3}"/>
              </a:ext>
            </a:extLst>
          </p:cNvPr>
          <p:cNvSpPr txBox="1"/>
          <p:nvPr/>
        </p:nvSpPr>
        <p:spPr>
          <a:xfrm>
            <a:off x="6485468" y="1896871"/>
            <a:ext cx="516466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Interceptors → Middleware Logic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apiClient.interceptors.request.use</a:t>
            </a:r>
            <a:r>
              <a:rPr lang="en-IN" dirty="0">
                <a:latin typeface="Courier New" panose="02070309020205020404" pitchFamily="49" charset="0"/>
              </a:rPr>
              <a:t>(...)</a:t>
            </a:r>
          </a:p>
          <a:p>
            <a:r>
              <a:rPr lang="en-IN" dirty="0" err="1">
                <a:latin typeface="Courier New" panose="02070309020205020404" pitchFamily="49" charset="0"/>
              </a:rPr>
              <a:t>apiClient.interceptors.response.use</a:t>
            </a:r>
            <a:r>
              <a:rPr lang="en-IN" dirty="0">
                <a:latin typeface="Courier New" panose="02070309020205020404" pitchFamily="49" charset="0"/>
              </a:rPr>
              <a:t>(...)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US" dirty="0"/>
              <a:t>They intercept:</a:t>
            </a:r>
          </a:p>
          <a:p>
            <a:r>
              <a:rPr lang="en-US" dirty="0"/>
              <a:t>Every request BEFORE it is sent</a:t>
            </a:r>
          </a:p>
          <a:p>
            <a:r>
              <a:rPr lang="en-US" dirty="0"/>
              <a:t>Every response BEFORE it reaches .then()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063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E83813-3459-E534-3FA8-624AE46F5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769140"/>
              </p:ext>
            </p:extLst>
          </p:nvPr>
        </p:nvGraphicFramePr>
        <p:xfrm>
          <a:off x="643467" y="714703"/>
          <a:ext cx="10905067" cy="5428600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65000"/>
                    <a:lumOff val="35000"/>
                  </a:schemeClr>
                </a:solidFill>
              </a:tblPr>
              <a:tblGrid>
                <a:gridCol w="4737430">
                  <a:extLst>
                    <a:ext uri="{9D8B030D-6E8A-4147-A177-3AD203B41FA5}">
                      <a16:colId xmlns:a16="http://schemas.microsoft.com/office/drawing/2014/main" val="3216601935"/>
                    </a:ext>
                  </a:extLst>
                </a:gridCol>
                <a:gridCol w="3282458">
                  <a:extLst>
                    <a:ext uri="{9D8B030D-6E8A-4147-A177-3AD203B41FA5}">
                      <a16:colId xmlns:a16="http://schemas.microsoft.com/office/drawing/2014/main" val="2537655704"/>
                    </a:ext>
                  </a:extLst>
                </a:gridCol>
                <a:gridCol w="2885179">
                  <a:extLst>
                    <a:ext uri="{9D8B030D-6E8A-4147-A177-3AD203B41FA5}">
                      <a16:colId xmlns:a16="http://schemas.microsoft.com/office/drawing/2014/main" val="2360635119"/>
                    </a:ext>
                  </a:extLst>
                </a:gridCol>
              </a:tblGrid>
              <a:tr h="678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 dirty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axios.create</a:t>
                      </a:r>
                      <a:r>
                        <a:rPr lang="en-IN" sz="2600" cap="none" spc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()</a:t>
                      </a:r>
                      <a:endParaRPr lang="en-IN" sz="26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interceptors</a:t>
                      </a:r>
                      <a:endParaRPr lang="en-IN" sz="2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984723"/>
                  </a:ext>
                </a:extLst>
              </a:tr>
              <a:tr h="678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 dirty="0">
                          <a:solidFill>
                            <a:schemeClr val="bg1"/>
                          </a:solidFill>
                        </a:rPr>
                        <a:t>Sets </a:t>
                      </a:r>
                      <a:r>
                        <a:rPr lang="en-IN" sz="2600" cap="none" spc="0" dirty="0" err="1">
                          <a:solidFill>
                            <a:schemeClr val="bg1"/>
                          </a:solidFill>
                        </a:rPr>
                        <a:t>baseURL</a:t>
                      </a:r>
                      <a:endParaRPr lang="en-IN" sz="26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</a:rPr>
                        <a:t>✅ Yes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</a:rPr>
                        <a:t>❌ No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987557"/>
                  </a:ext>
                </a:extLst>
              </a:tr>
              <a:tr h="678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 dirty="0">
                          <a:solidFill>
                            <a:schemeClr val="bg1"/>
                          </a:solidFill>
                        </a:rPr>
                        <a:t>Sets default headers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</a:rPr>
                        <a:t>✅ Yes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</a:rPr>
                        <a:t>❌ No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770642"/>
                  </a:ext>
                </a:extLst>
              </a:tr>
              <a:tr h="678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</a:rPr>
                        <a:t>Modifies request dynamically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</a:rPr>
                        <a:t>❌ No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</a:rPr>
                        <a:t>✅ Yes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267846"/>
                  </a:ext>
                </a:extLst>
              </a:tr>
              <a:tr h="678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 dirty="0">
                          <a:solidFill>
                            <a:schemeClr val="bg1"/>
                          </a:solidFill>
                        </a:rPr>
                        <a:t>Handles errors globally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</a:rPr>
                        <a:t>❌ No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</a:rPr>
                        <a:t>✅ Yes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62443"/>
                  </a:ext>
                </a:extLst>
              </a:tr>
              <a:tr h="678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</a:rPr>
                        <a:t>Runs on every request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</a:rPr>
                        <a:t>❌ No (just config)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</a:rPr>
                        <a:t>✅ Yes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838676"/>
                  </a:ext>
                </a:extLst>
              </a:tr>
              <a:tr h="678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Used for auth token injection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</a:rPr>
                        <a:t>❌ Not by itself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</a:rPr>
                        <a:t>✅ Yes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234658"/>
                  </a:ext>
                </a:extLst>
              </a:tr>
              <a:tr h="678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</a:rPr>
                        <a:t>Used for logging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>
                          <a:solidFill>
                            <a:schemeClr val="bg1"/>
                          </a:solidFill>
                        </a:rPr>
                        <a:t>❌ No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cap="none" spc="0" dirty="0">
                          <a:solidFill>
                            <a:schemeClr val="bg1"/>
                          </a:solidFill>
                        </a:rPr>
                        <a:t>✅ Yes</a:t>
                      </a:r>
                    </a:p>
                  </a:txBody>
                  <a:tcPr marL="148593" marR="148593" marT="74296" marB="1485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277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704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20E551-BFAC-557D-1DCA-1C4FF64CE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10DAEF-9F2C-2779-EB05-905E91D83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504154"/>
              </p:ext>
            </p:extLst>
          </p:nvPr>
        </p:nvGraphicFramePr>
        <p:xfrm>
          <a:off x="193040" y="162560"/>
          <a:ext cx="11887201" cy="6655188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65000"/>
                    <a:lumOff val="35000"/>
                  </a:schemeClr>
                </a:solidFill>
              </a:tblPr>
              <a:tblGrid>
                <a:gridCol w="1605280">
                  <a:extLst>
                    <a:ext uri="{9D8B030D-6E8A-4147-A177-3AD203B41FA5}">
                      <a16:colId xmlns:a16="http://schemas.microsoft.com/office/drawing/2014/main" val="3216601935"/>
                    </a:ext>
                  </a:extLst>
                </a:gridCol>
                <a:gridCol w="5762413">
                  <a:extLst>
                    <a:ext uri="{9D8B030D-6E8A-4147-A177-3AD203B41FA5}">
                      <a16:colId xmlns:a16="http://schemas.microsoft.com/office/drawing/2014/main" val="2537655704"/>
                    </a:ext>
                  </a:extLst>
                </a:gridCol>
                <a:gridCol w="4519508">
                  <a:extLst>
                    <a:ext uri="{9D8B030D-6E8A-4147-A177-3AD203B41FA5}">
                      <a16:colId xmlns:a16="http://schemas.microsoft.com/office/drawing/2014/main" val="2360635119"/>
                    </a:ext>
                  </a:extLst>
                </a:gridCol>
              </a:tblGrid>
              <a:tr h="359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rgbClr val="FFFFFF"/>
                          </a:solidFill>
                        </a:rPr>
                        <a:t>HTTP Method</a:t>
                      </a: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rgbClr val="FFFFFF"/>
                          </a:solidFill>
                        </a:rPr>
                        <a:t>fetch</a:t>
                      </a: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 err="1">
                          <a:solidFill>
                            <a:srgbClr val="FFFFFF"/>
                          </a:solidFill>
                        </a:rPr>
                        <a:t>axios</a:t>
                      </a:r>
                      <a:endParaRPr lang="en-IN"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984723"/>
                  </a:ext>
                </a:extLst>
              </a:tr>
              <a:tr h="825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rgbClr val="FFFFFF"/>
                          </a:solidFill>
                        </a:rPr>
                        <a:t>GET</a:t>
                      </a:r>
                      <a:endParaRPr lang="en-IN" sz="1200" dirty="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ts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 const res = await fetch("/posts");</a:t>
                      </a:r>
                      <a:b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</a:b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if(!</a:t>
                      </a:r>
                      <a:r>
                        <a:rPr lang="en-US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res.ok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) throw new Error();</a:t>
                      </a:r>
                      <a:b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</a:b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const data = await </a:t>
                      </a:r>
                      <a:r>
                        <a:rPr lang="en-US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res.json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();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ts const { data } = await axios.get("/posts");</a:t>
                      </a:r>
                      <a:endParaRPr lang="en-IN" sz="120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987557"/>
                  </a:ext>
                </a:extLst>
              </a:tr>
              <a:tr h="825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FFFFFF"/>
                          </a:solidFill>
                        </a:rPr>
                        <a:t>GET with Query Params</a:t>
                      </a:r>
                      <a:endParaRPr lang="en-IN" sz="120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ts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 const res = await fetch("/</a:t>
                      </a:r>
                      <a:r>
                        <a:rPr lang="en-US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posts?limit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=10&amp;sort=desc"); const data = await </a:t>
                      </a:r>
                      <a:r>
                        <a:rPr lang="en-US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res.json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();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ts const { data } = await axios.get("/posts", { params: { limit: 10, sort: "desc" } });</a:t>
                      </a:r>
                      <a:endParaRPr lang="en-US" sz="120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770642"/>
                  </a:ext>
                </a:extLst>
              </a:tr>
              <a:tr h="1291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IN" sz="120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ts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const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 res =</a:t>
                      </a:r>
                      <a:b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</a:b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await fetch("/posts", </a:t>
                      </a:r>
                      <a:b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</a:b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{ </a:t>
                      </a:r>
                      <a:r>
                        <a:rPr lang="en-IN" sz="1200" b="1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method:"POST</a:t>
                      </a:r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, </a:t>
                      </a:r>
                      <a:b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</a:b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headers:{"</a:t>
                      </a: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Content-Type":"application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json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"}, </a:t>
                      </a:r>
                      <a:b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</a:b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body: </a:t>
                      </a: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JSON.stringify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({title, views}) });</a:t>
                      </a:r>
                      <a:b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</a:br>
                      <a:b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</a:b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const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 data = await </a:t>
                      </a: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res.json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();</a:t>
                      </a:r>
                      <a:endParaRPr lang="en-IN" sz="1200" dirty="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ts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const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 { data } = await </a:t>
                      </a: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axios.post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("/posts", {title, views});</a:t>
                      </a:r>
                      <a:endParaRPr lang="en-IN" sz="1200" dirty="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267846"/>
                  </a:ext>
                </a:extLst>
              </a:tr>
              <a:tr h="1291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FFFFFF"/>
                          </a:solidFill>
                        </a:rPr>
                        <a:t>PUT</a:t>
                      </a:r>
                      <a:endParaRPr lang="en-IN" sz="120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ts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const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 res = </a:t>
                      </a:r>
                      <a:b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</a:b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await fetch(`/posts/${id}`,</a:t>
                      </a:r>
                      <a:b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</a:b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{ </a:t>
                      </a:r>
                      <a:r>
                        <a:rPr lang="en-IN" sz="1200" b="1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method:"PUT</a:t>
                      </a:r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", 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headers:{"</a:t>
                      </a: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Content-Type":"application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json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"}, body: </a:t>
                      </a: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JSON.stringify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({title, views}) });</a:t>
                      </a:r>
                      <a:b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</a:b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const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 data = await </a:t>
                      </a: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res.json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();</a:t>
                      </a:r>
                      <a:endParaRPr lang="en-IN" sz="1200" dirty="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ts const { data } = await axios.put(`/posts/${id}`, {title, views});</a:t>
                      </a:r>
                      <a:endParaRPr lang="en-IN" sz="120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62443"/>
                  </a:ext>
                </a:extLst>
              </a:tr>
              <a:tr h="825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FFFFFF"/>
                          </a:solidFill>
                        </a:rPr>
                        <a:t>DELETE</a:t>
                      </a:r>
                      <a:endParaRPr lang="en-IN" sz="120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ts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 const res = await fetch(`/posts/${id}`, { 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method:"DELETE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" 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}); if(!</a:t>
                      </a:r>
                      <a:r>
                        <a:rPr lang="en-US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res.ok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) throw new Error();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ts await axios.delete(`/posts/${id}`);</a:t>
                      </a:r>
                      <a:endParaRPr lang="en-IN" sz="120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838676"/>
                  </a:ext>
                </a:extLst>
              </a:tr>
              <a:tr h="825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FFFFFF"/>
                          </a:solidFill>
                        </a:rPr>
                        <a:t>Headers</a:t>
                      </a:r>
                      <a:endParaRPr lang="en-IN" sz="120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ts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 headers: { "</a:t>
                      </a:r>
                      <a:r>
                        <a:rPr lang="en-US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Content-Type":"application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US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json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", "</a:t>
                      </a:r>
                      <a:r>
                        <a:rPr lang="en-US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Authorization":"Bearer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 token" }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ts axios.get("/posts", { headers:{ Authorization: "Bearer token" }})</a:t>
                      </a:r>
                      <a:endParaRPr lang="en-US" sz="120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234658"/>
                  </a:ext>
                </a:extLst>
              </a:tr>
              <a:tr h="359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FFFFFF"/>
                          </a:solidFill>
                        </a:rPr>
                        <a:t>Timeout</a:t>
                      </a:r>
                      <a:endParaRPr lang="en-IN" sz="120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rgbClr val="FFFFFF"/>
                          </a:solidFill>
                        </a:rPr>
                        <a:t>Must use </a:t>
                      </a:r>
                      <a:r>
                        <a:rPr lang="en-IN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AbortController</a:t>
                      </a:r>
                      <a:r>
                        <a:rPr lang="en-IN" sz="1200" dirty="0">
                          <a:solidFill>
                            <a:srgbClr val="FFFFFF"/>
                          </a:solidFill>
                        </a:rPr>
                        <a:t> manually</a:t>
                      </a: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ts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axios.create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anose="02070309020205020404" pitchFamily="49" charset="0"/>
                        </a:rPr>
                        <a:t>({ timeout: 5000 })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L="62377" marR="62377" marT="31189" marB="311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277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651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615</Words>
  <Application>Microsoft Office PowerPoint</Application>
  <PresentationFormat>Widescreen</PresentationFormat>
  <Paragraphs>112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Vedika Gujar</dc:creator>
  <cp:lastModifiedBy>Vedika Gujar</cp:lastModifiedBy>
  <cp:revision>1</cp:revision>
  <dcterms:created xsi:type="dcterms:W3CDTF">2026-02-13T04:09:07Z</dcterms:created>
  <dcterms:modified xsi:type="dcterms:W3CDTF">2026-02-13T05:05:52Z</dcterms:modified>
</cp:coreProperties>
</file>