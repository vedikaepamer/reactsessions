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DB15-550C-A529-CB60-E73F511C1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8D383-C247-A394-588A-A2F466942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666A4-7A3A-B06E-F237-12CE1F66D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9285-2B05-407C-8189-3837D97506C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644EF-29CB-ED6B-C3CB-031ABB0A8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05166-FE82-5FA3-8D91-5274FC882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E422-A03E-49F7-A0FF-76F8248BA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854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9722F-952D-0BD8-E56F-BACAE13B4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51C06-9053-1787-8DD4-A2E89CF87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B437E-B5E8-BEDE-606B-936AB4DB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9285-2B05-407C-8189-3837D97506C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34873-CA3C-2A9E-E797-37B60E129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DCFC7-A030-F2B2-D924-6E3B8E01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E422-A03E-49F7-A0FF-76F8248BA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620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36982-C85D-DDAA-2A3A-1801A239D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D3DF3-0201-B3BB-F452-6BD48F83F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68B8F-FED5-65B0-C9C8-467098B1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9285-2B05-407C-8189-3837D97506C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199D7-7069-3D92-6467-C18C28A4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02984-47A5-90F9-86EB-51AE611D2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E422-A03E-49F7-A0FF-76F8248BA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43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C257-1A8C-318B-9080-B9616634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B092C-F067-549A-142D-FCDFC52BF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7D02F-E0F1-0215-1CB9-D684BB959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F9711-3CCF-7305-0C21-8FBC32619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9285-2B05-407C-8189-3837D97506C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60B93-B150-253A-2075-44136D8B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F7BE7-3D45-5191-A2EC-4C9B1EB4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E422-A03E-49F7-A0FF-76F8248BA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614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2558C-5D24-956C-122C-CCF4EBE6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3E586-6F96-8564-B234-DEAA7F984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BF5B6-6F2F-BEF2-FEB4-16375A03C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28B62-A0AD-B691-99F8-110A7561E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4EEBF-49DD-8B29-CD81-E8AF1B70F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31ECF9-8205-AB7C-2B0B-02BC4349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9285-2B05-407C-8189-3837D97506C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D2C3A8-1454-3D0C-4F39-5A01062BD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F1D1AD-5589-6F83-D125-EE9C76D0D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E422-A03E-49F7-A0FF-76F8248BA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90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B027-B5D5-DB59-02E2-975FC2E79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D735C5-0755-D81C-7C8E-6D3696106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9285-2B05-407C-8189-3837D97506C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98933D-4B59-953F-AAB3-743322C0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FBBF51-D0A4-FA2D-5833-3C1A8E624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E422-A03E-49F7-A0FF-76F8248BA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66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1E2CCB-E15E-159D-B2B8-F6B2D73CF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9285-2B05-407C-8189-3837D97506C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D419A2-C12E-2965-B802-A4F45248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EF3D3-186D-878F-8C23-955C8865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E422-A03E-49F7-A0FF-76F8248BA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654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E3E54-B023-2012-E331-CF44B1FB8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E12B6-831D-C33D-CDD2-19C0EF39B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2A306-9BD7-51CC-A9E8-3A8CA2063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04C30-9C4B-2811-DDB4-D7CA3B75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9285-2B05-407C-8189-3837D97506C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A4521-E44A-8BCA-02DA-6706CED04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2B48B-56A6-7276-01F9-B67E0573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E422-A03E-49F7-A0FF-76F8248BA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01B17-F153-8D51-29F8-9DC73D662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6193BD-46DA-759F-E20F-9C97F8521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C1FAB-5640-C1D0-EBB9-7E28D88EB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1492C-6F48-F56E-DAA3-7E54020B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9285-2B05-407C-8189-3837D97506C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56102-5C44-3DCA-AB36-C67CD2806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778CD-C4DC-0EBD-1C57-B0E2E9130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E422-A03E-49F7-A0FF-76F8248BA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65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BD24C-4460-EC0E-1FB6-5D7A38C4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0C4B5-5B74-22E8-C456-F008793AC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D0A39-4873-7FAA-82E3-A0753F564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9285-2B05-407C-8189-3837D97506C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36AF4-6A4A-0B9B-A996-7744A43A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28579-809F-CB78-D079-280AAA08A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E422-A03E-49F7-A0FF-76F8248BA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03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5747E6-D173-768F-A249-6737FE11B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55254-A798-9393-F258-1963724A6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C1534-AD36-B858-A494-3FCB2B5B0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9285-2B05-407C-8189-3837D97506C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024CE-6416-272C-D65E-E3A3E755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61BF9-4C46-64CB-1EBF-719143D61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E422-A03E-49F7-A0FF-76F8248BA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62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BF762D-7C4C-29CE-0C36-32BA8984A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A6363-7170-79A4-A84C-643A779E5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0C490-670D-FDC7-1E64-26511030E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29285-2B05-407C-8189-3837D97506CA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ADB16-8C01-D753-20BE-457E330B4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4EAFE-CC91-06E0-8416-0B3B9F2A8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5BE422-A03E-49F7-A0FF-76F8248BA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2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Beginner's Guide to Getting Started with Redux Toolkit">
            <a:extLst>
              <a:ext uri="{FF2B5EF4-FFF2-40B4-BE49-F238E27FC236}">
                <a16:creationId xmlns:a16="http://schemas.microsoft.com/office/drawing/2014/main" id="{D3EF0AE2-02F9-6500-5E01-CE23FF9A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DAF420-1FC9-63AE-3422-447239124D69}"/>
              </a:ext>
            </a:extLst>
          </p:cNvPr>
          <p:cNvSpPr txBox="1"/>
          <p:nvPr/>
        </p:nvSpPr>
        <p:spPr>
          <a:xfrm>
            <a:off x="169333" y="0"/>
            <a:ext cx="1192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Redux Toolkit is a simplified and opinionated way to manage global state in large React applications.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315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72396-698A-A106-5AFD-7BE7FFCF50A5}"/>
              </a:ext>
            </a:extLst>
          </p:cNvPr>
          <p:cNvSpPr txBox="1"/>
          <p:nvPr/>
        </p:nvSpPr>
        <p:spPr>
          <a:xfrm>
            <a:off x="142240" y="180261"/>
            <a:ext cx="33121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User Interaction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   Dispatch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    Action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   Reducer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     Store (updated)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   Selector (reads data)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   UI Re-renders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29164-4433-D6F4-EDD5-F422F7E2E1A6}"/>
              </a:ext>
            </a:extLst>
          </p:cNvPr>
          <p:cNvSpPr txBox="1"/>
          <p:nvPr/>
        </p:nvSpPr>
        <p:spPr>
          <a:xfrm>
            <a:off x="3691467" y="180261"/>
            <a:ext cx="8297333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1️⃣ Action</a:t>
            </a:r>
          </a:p>
          <a:p>
            <a:r>
              <a:rPr lang="en-US" sz="1600" b="1" dirty="0"/>
              <a:t>📌 What is an Action?</a:t>
            </a:r>
          </a:p>
          <a:p>
            <a:r>
              <a:rPr lang="en-US" sz="1600" dirty="0"/>
              <a:t>An </a:t>
            </a:r>
            <a:r>
              <a:rPr lang="en-US" sz="1600" b="1" dirty="0"/>
              <a:t>action</a:t>
            </a:r>
            <a:r>
              <a:rPr lang="en-US" sz="1600" dirty="0"/>
              <a:t> is a plain JavaScript object that describes </a:t>
            </a:r>
            <a:r>
              <a:rPr lang="en-US" sz="1600" i="1" dirty="0"/>
              <a:t>what happened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b="1" dirty="0"/>
              <a:t>2️⃣ Reducer</a:t>
            </a:r>
          </a:p>
          <a:p>
            <a:r>
              <a:rPr lang="en-US" sz="1600" b="1" dirty="0"/>
              <a:t>📌 What is a Reducer?</a:t>
            </a:r>
          </a:p>
          <a:p>
            <a:r>
              <a:rPr lang="en-US" sz="1600" dirty="0"/>
              <a:t>A reducer is a function that:</a:t>
            </a:r>
          </a:p>
          <a:p>
            <a:r>
              <a:rPr lang="en-US" sz="1600" dirty="0"/>
              <a:t>Receives current state</a:t>
            </a:r>
          </a:p>
          <a:p>
            <a:r>
              <a:rPr lang="en-US" sz="1600" dirty="0"/>
              <a:t>Receives an action</a:t>
            </a:r>
          </a:p>
          <a:p>
            <a:r>
              <a:rPr lang="en-US" sz="1600" dirty="0"/>
              <a:t>Returns new state</a:t>
            </a:r>
          </a:p>
          <a:p>
            <a:r>
              <a:rPr lang="en-US" sz="1600" dirty="0"/>
              <a:t>It is the </a:t>
            </a:r>
            <a:r>
              <a:rPr lang="en-US" sz="1600" b="1" dirty="0"/>
              <a:t>only place where state changes happen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b="1" dirty="0"/>
              <a:t>3️⃣ Store</a:t>
            </a:r>
          </a:p>
          <a:p>
            <a:r>
              <a:rPr lang="en-US" sz="1600" b="1" dirty="0"/>
              <a:t>📌 What is the Store?</a:t>
            </a:r>
          </a:p>
          <a:p>
            <a:r>
              <a:rPr lang="en-US" sz="1600" dirty="0"/>
              <a:t>The store is:</a:t>
            </a:r>
          </a:p>
          <a:p>
            <a:r>
              <a:rPr lang="en-US" sz="1600" dirty="0"/>
              <a:t>The central container that holds the entire app state.</a:t>
            </a:r>
          </a:p>
          <a:p>
            <a:r>
              <a:rPr lang="en-US" sz="1600" dirty="0"/>
              <a:t>Think of it as a database for your frontend.</a:t>
            </a:r>
          </a:p>
          <a:p>
            <a:endParaRPr lang="en-US" sz="1600" dirty="0"/>
          </a:p>
          <a:p>
            <a:r>
              <a:rPr lang="en-US" sz="1600" b="1" dirty="0"/>
              <a:t>4️⃣ Dispatcher</a:t>
            </a:r>
          </a:p>
          <a:p>
            <a:r>
              <a:rPr lang="en-US" sz="1600" b="1" dirty="0"/>
              <a:t>📌 What is Dispatch?</a:t>
            </a:r>
          </a:p>
          <a:p>
            <a:r>
              <a:rPr lang="en-US" sz="1600" dirty="0"/>
              <a:t>Dispatch is how you send an action to Redux.</a:t>
            </a:r>
          </a:p>
          <a:p>
            <a:endParaRPr lang="en-US" sz="1600" dirty="0"/>
          </a:p>
          <a:p>
            <a:r>
              <a:rPr lang="en-US" sz="1600" b="1" dirty="0"/>
              <a:t>5️⃣ Selector</a:t>
            </a:r>
          </a:p>
          <a:p>
            <a:r>
              <a:rPr lang="en-US" sz="1600" b="1" dirty="0"/>
              <a:t>📌 What is a Selector?</a:t>
            </a:r>
          </a:p>
          <a:p>
            <a:r>
              <a:rPr lang="en-US" sz="1600" dirty="0"/>
              <a:t>A selector reads data from the store.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0556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6026B2-CD07-7E5D-D8CC-138FEF760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624000"/>
              </p:ext>
            </p:extLst>
          </p:nvPr>
        </p:nvGraphicFramePr>
        <p:xfrm>
          <a:off x="1120477" y="1195655"/>
          <a:ext cx="9951043" cy="4460552"/>
        </p:xfrm>
        <a:graphic>
          <a:graphicData uri="http://schemas.openxmlformats.org/drawingml/2006/table">
            <a:tbl>
              <a:tblPr/>
              <a:tblGrid>
                <a:gridCol w="3428481">
                  <a:extLst>
                    <a:ext uri="{9D8B030D-6E8A-4147-A177-3AD203B41FA5}">
                      <a16:colId xmlns:a16="http://schemas.microsoft.com/office/drawing/2014/main" val="3800607931"/>
                    </a:ext>
                  </a:extLst>
                </a:gridCol>
                <a:gridCol w="3305281">
                  <a:extLst>
                    <a:ext uri="{9D8B030D-6E8A-4147-A177-3AD203B41FA5}">
                      <a16:colId xmlns:a16="http://schemas.microsoft.com/office/drawing/2014/main" val="612125250"/>
                    </a:ext>
                  </a:extLst>
                </a:gridCol>
                <a:gridCol w="3217281">
                  <a:extLst>
                    <a:ext uri="{9D8B030D-6E8A-4147-A177-3AD203B41FA5}">
                      <a16:colId xmlns:a16="http://schemas.microsoft.com/office/drawing/2014/main" val="1193334355"/>
                    </a:ext>
                  </a:extLst>
                </a:gridCol>
              </a:tblGrid>
              <a:tr h="55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Feature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Context API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Redux Toolkit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472240"/>
                  </a:ext>
                </a:extLst>
              </a:tr>
              <a:tr h="55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Built into React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✅ Yes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❌ No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810837"/>
                  </a:ext>
                </a:extLst>
              </a:tr>
              <a:tr h="55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Boilerplate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Low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Low (with RTK)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37377"/>
                  </a:ext>
                </a:extLst>
              </a:tr>
              <a:tr h="55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DevTools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❌ No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✅ Excellent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194947"/>
                  </a:ext>
                </a:extLst>
              </a:tr>
              <a:tr h="55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Middleware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❌ No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✅ Yes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620788"/>
                  </a:ext>
                </a:extLst>
              </a:tr>
              <a:tr h="55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Async logic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Manual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Built-in support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579996"/>
                  </a:ext>
                </a:extLst>
              </a:tr>
              <a:tr h="55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Performance at scale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Can degrade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Optimized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62625"/>
                  </a:ext>
                </a:extLst>
              </a:tr>
              <a:tr h="55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Best for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Small–medium apps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Medium–large apps</a:t>
                      </a:r>
                    </a:p>
                  </a:txBody>
                  <a:tcPr marL="126720" marR="126720" marT="63360" marB="63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38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052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FB587C-B9D8-ACBE-C565-8A007C81D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370008"/>
              </p:ext>
            </p:extLst>
          </p:nvPr>
        </p:nvGraphicFramePr>
        <p:xfrm>
          <a:off x="643467" y="643466"/>
          <a:ext cx="10905067" cy="5571060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3472041">
                  <a:extLst>
                    <a:ext uri="{9D8B030D-6E8A-4147-A177-3AD203B41FA5}">
                      <a16:colId xmlns:a16="http://schemas.microsoft.com/office/drawing/2014/main" val="2753317186"/>
                    </a:ext>
                  </a:extLst>
                </a:gridCol>
                <a:gridCol w="3714121">
                  <a:extLst>
                    <a:ext uri="{9D8B030D-6E8A-4147-A177-3AD203B41FA5}">
                      <a16:colId xmlns:a16="http://schemas.microsoft.com/office/drawing/2014/main" val="525916010"/>
                    </a:ext>
                  </a:extLst>
                </a:gridCol>
                <a:gridCol w="3718905">
                  <a:extLst>
                    <a:ext uri="{9D8B030D-6E8A-4147-A177-3AD203B41FA5}">
                      <a16:colId xmlns:a16="http://schemas.microsoft.com/office/drawing/2014/main" val="47285240"/>
                    </a:ext>
                  </a:extLst>
                </a:gridCol>
              </a:tblGrid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cap="none" spc="0">
                          <a:solidFill>
                            <a:schemeClr val="tx1"/>
                          </a:solidFill>
                        </a:rPr>
                        <a:t>Criteria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cap="none" spc="0">
                          <a:solidFill>
                            <a:schemeClr val="tx1"/>
                          </a:solidFill>
                        </a:rPr>
                        <a:t>Context API (React)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cap="none" spc="0" dirty="0">
                          <a:solidFill>
                            <a:schemeClr val="tx1"/>
                          </a:solidFill>
                        </a:rPr>
                        <a:t>Redux Toolkit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997969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What it is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Built-in feature of React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Official state management tool for Redux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604046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 dirty="0">
                          <a:solidFill>
                            <a:schemeClr val="tx1"/>
                          </a:solidFill>
                        </a:rPr>
                        <a:t>Setup complexity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Very simple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Slightly more setup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775157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Boilerplate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Low (much reduced vs classic Redux)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834162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Best for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Small to medium apps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Medium to large apps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1676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Type of state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Simple global values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Complex, shared, business-critical state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172875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Example use cases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Theme, Auth user, Language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Cart, Dashboard data, API-heavy apps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80852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Performance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All consumers re-render on value change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Only subscribed components re-render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015023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DevTools support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No built-in debugging tools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Powerful Redux DevTools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612589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Async handling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Manual (useEffect, custom logic)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Built-in support (createAsyncThunk)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997725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Middleware support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360600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Scalability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Limited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Highly scalable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664184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Team collaboration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Okay for small teams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Better for large teams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772785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Learning curve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Easy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Moderate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342372"/>
                  </a:ext>
                </a:extLst>
              </a:tr>
              <a:tr h="37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Architecture structure</a:t>
                      </a:r>
                    </a:p>
                  </a:txBody>
                  <a:tcPr marL="84313" marR="41275" marT="64856" marB="648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chemeClr val="tx1"/>
                          </a:solidFill>
                        </a:rPr>
                        <a:t>Flexible, less opinionated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 dirty="0">
                          <a:solidFill>
                            <a:schemeClr val="tx1"/>
                          </a:solidFill>
                        </a:rPr>
                        <a:t>Structured, predictable architecture</a:t>
                      </a:r>
                    </a:p>
                  </a:txBody>
                  <a:tcPr marL="84313" marR="41275" marT="64856" marB="6485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426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036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8E1245-5C14-0A29-8FB9-4BE7E9106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382864"/>
              </p:ext>
            </p:extLst>
          </p:nvPr>
        </p:nvGraphicFramePr>
        <p:xfrm>
          <a:off x="1120477" y="1378404"/>
          <a:ext cx="9951042" cy="409504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00112">
                  <a:extLst>
                    <a:ext uri="{9D8B030D-6E8A-4147-A177-3AD203B41FA5}">
                      <a16:colId xmlns:a16="http://schemas.microsoft.com/office/drawing/2014/main" val="60056021"/>
                    </a:ext>
                  </a:extLst>
                </a:gridCol>
                <a:gridCol w="5450930">
                  <a:extLst>
                    <a:ext uri="{9D8B030D-6E8A-4147-A177-3AD203B41FA5}">
                      <a16:colId xmlns:a16="http://schemas.microsoft.com/office/drawing/2014/main" val="2348291270"/>
                    </a:ext>
                  </a:extLst>
                </a:gridCol>
              </a:tblGrid>
              <a:tr h="682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cap="none" spc="0">
                          <a:solidFill>
                            <a:schemeClr val="tx1"/>
                          </a:solidFill>
                        </a:rPr>
                        <a:t>If your app is…</a:t>
                      </a:r>
                    </a:p>
                  </a:txBody>
                  <a:tcPr marL="116526" marR="166465" marT="33293" marB="24969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cap="none" spc="0" dirty="0">
                          <a:solidFill>
                            <a:schemeClr val="tx1"/>
                          </a:solidFill>
                        </a:rPr>
                        <a:t>Use</a:t>
                      </a:r>
                    </a:p>
                  </a:txBody>
                  <a:tcPr marL="116526" marR="166465" marT="33293" marB="2496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11802"/>
                  </a:ext>
                </a:extLst>
              </a:tr>
              <a:tr h="682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Small &amp; simple</a:t>
                      </a:r>
                    </a:p>
                  </a:txBody>
                  <a:tcPr marL="116526" marR="166465" marT="33293" marB="24969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Context API</a:t>
                      </a:r>
                    </a:p>
                  </a:txBody>
                  <a:tcPr marL="116526" marR="166465" marT="33293" marB="2496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598281"/>
                  </a:ext>
                </a:extLst>
              </a:tr>
              <a:tr h="682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 dirty="0">
                          <a:solidFill>
                            <a:schemeClr val="tx1"/>
                          </a:solidFill>
                        </a:rPr>
                        <a:t>Medium with growing complexity</a:t>
                      </a:r>
                    </a:p>
                  </a:txBody>
                  <a:tcPr marL="116526" marR="166465" marT="33293" marB="24969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Either (lean toward Redux if logic grows)</a:t>
                      </a:r>
                    </a:p>
                  </a:txBody>
                  <a:tcPr marL="116526" marR="166465" marT="33293" marB="2496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44420"/>
                  </a:ext>
                </a:extLst>
              </a:tr>
              <a:tr h="682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Large &amp; production-level</a:t>
                      </a:r>
                    </a:p>
                  </a:txBody>
                  <a:tcPr marL="116526" marR="166465" marT="33293" marB="24969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Redux Toolkit</a:t>
                      </a:r>
                    </a:p>
                  </a:txBody>
                  <a:tcPr marL="116526" marR="166465" marT="33293" marB="2496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084348"/>
                  </a:ext>
                </a:extLst>
              </a:tr>
              <a:tr h="682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API-heavy with complex updates</a:t>
                      </a:r>
                    </a:p>
                  </a:txBody>
                  <a:tcPr marL="116526" marR="166465" marT="33293" marB="24969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Redux Toolkit</a:t>
                      </a:r>
                    </a:p>
                  </a:txBody>
                  <a:tcPr marL="116526" marR="166465" marT="33293" marB="2496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806838"/>
                  </a:ext>
                </a:extLst>
              </a:tr>
              <a:tr h="682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Just sharing theme or user info</a:t>
                      </a:r>
                    </a:p>
                  </a:txBody>
                  <a:tcPr marL="116526" marR="166465" marT="33293" marB="24969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 dirty="0">
                          <a:solidFill>
                            <a:schemeClr val="tx1"/>
                          </a:solidFill>
                        </a:rPr>
                        <a:t>Context API</a:t>
                      </a:r>
                    </a:p>
                  </a:txBody>
                  <a:tcPr marL="116526" marR="166465" marT="33293" marB="2496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611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785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107D5E-9443-F36B-B94A-E62E22D2C44A}"/>
              </a:ext>
            </a:extLst>
          </p:cNvPr>
          <p:cNvSpPr txBox="1"/>
          <p:nvPr/>
        </p:nvSpPr>
        <p:spPr>
          <a:xfrm>
            <a:off x="0" y="0"/>
            <a:ext cx="121920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</a:t>
            </a:r>
          </a:p>
          <a:p>
            <a:r>
              <a:rPr lang="en-IN" dirty="0"/>
              <a:t>  products: { count: 0 },</a:t>
            </a:r>
          </a:p>
          <a:p>
            <a:r>
              <a:rPr lang="en-IN" dirty="0"/>
              <a:t>  user: { name: "John" }</a:t>
            </a:r>
          </a:p>
          <a:p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------------------------------------------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1️⃣ </a:t>
            </a:r>
            <a:r>
              <a:rPr lang="en-IN" b="1" dirty="0" err="1"/>
              <a:t>CartCount</a:t>
            </a:r>
            <a:r>
              <a:rPr lang="en-IN" b="1" dirty="0"/>
              <a:t> Component</a:t>
            </a:r>
          </a:p>
          <a:p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CartCount</a:t>
            </a:r>
            <a:r>
              <a:rPr lang="en-IN" dirty="0"/>
              <a:t> = () =&gt; {</a:t>
            </a:r>
          </a:p>
          <a:p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count = </a:t>
            </a:r>
            <a:r>
              <a:rPr lang="en-IN" dirty="0" err="1"/>
              <a:t>useSelector</a:t>
            </a:r>
            <a:r>
              <a:rPr lang="en-IN" dirty="0"/>
              <a:t>((state: </a:t>
            </a:r>
            <a:r>
              <a:rPr lang="en-IN" dirty="0" err="1"/>
              <a:t>RootState</a:t>
            </a:r>
            <a:r>
              <a:rPr lang="en-IN" dirty="0"/>
              <a:t>) =&gt; </a:t>
            </a:r>
            <a:r>
              <a:rPr lang="en-IN" dirty="0" err="1"/>
              <a:t>state.products.count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  console.log("</a:t>
            </a:r>
            <a:r>
              <a:rPr lang="en-IN" dirty="0" err="1"/>
              <a:t>CartCount</a:t>
            </a:r>
            <a:r>
              <a:rPr lang="en-IN" dirty="0"/>
              <a:t> rendered");</a:t>
            </a:r>
          </a:p>
          <a:p>
            <a:endParaRPr lang="en-IN" dirty="0"/>
          </a:p>
          <a:p>
            <a:r>
              <a:rPr lang="en-IN" dirty="0"/>
              <a:t>  return &lt;div&gt;Cart Count: {count}&lt;/div&gt;;</a:t>
            </a:r>
          </a:p>
          <a:p>
            <a:r>
              <a:rPr lang="en-IN" dirty="0"/>
              <a:t>};</a:t>
            </a:r>
            <a:br>
              <a:rPr lang="en-IN" dirty="0"/>
            </a:br>
            <a:r>
              <a:rPr lang="en-IN" dirty="0"/>
              <a:t>------------------------------------------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2️⃣ </a:t>
            </a:r>
            <a:r>
              <a:rPr lang="en-IN" b="1" dirty="0" err="1"/>
              <a:t>UserProfile</a:t>
            </a:r>
            <a:r>
              <a:rPr lang="en-IN" b="1" dirty="0"/>
              <a:t> Component</a:t>
            </a:r>
          </a:p>
          <a:p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UserProfile</a:t>
            </a:r>
            <a:r>
              <a:rPr lang="en-IN" dirty="0"/>
              <a:t> = () =&gt; {</a:t>
            </a:r>
          </a:p>
          <a:p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name = </a:t>
            </a:r>
            <a:r>
              <a:rPr lang="en-IN" dirty="0" err="1"/>
              <a:t>useSelector</a:t>
            </a:r>
            <a:r>
              <a:rPr lang="en-IN" dirty="0"/>
              <a:t>((state: </a:t>
            </a:r>
            <a:r>
              <a:rPr lang="en-IN" dirty="0" err="1"/>
              <a:t>RootState</a:t>
            </a:r>
            <a:r>
              <a:rPr lang="en-IN" dirty="0"/>
              <a:t>) =&gt; state.user.name);</a:t>
            </a:r>
          </a:p>
          <a:p>
            <a:endParaRPr lang="en-IN" dirty="0"/>
          </a:p>
          <a:p>
            <a:r>
              <a:rPr lang="en-IN" dirty="0"/>
              <a:t>  console.log("</a:t>
            </a:r>
            <a:r>
              <a:rPr lang="en-IN" dirty="0" err="1"/>
              <a:t>UserProfile</a:t>
            </a:r>
            <a:r>
              <a:rPr lang="en-IN" dirty="0"/>
              <a:t> rendered");</a:t>
            </a:r>
          </a:p>
          <a:p>
            <a:endParaRPr lang="en-IN" dirty="0"/>
          </a:p>
          <a:p>
            <a:r>
              <a:rPr lang="en-IN" dirty="0"/>
              <a:t>  return &lt;div&gt;User: {name}&lt;/div&gt;;</a:t>
            </a:r>
          </a:p>
          <a:p>
            <a:r>
              <a:rPr lang="en-IN" dirty="0"/>
              <a:t>};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2895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6D594-2B20-CBA6-E2E2-7E7ACB717207}"/>
              </a:ext>
            </a:extLst>
          </p:cNvPr>
          <p:cNvSpPr txBox="1"/>
          <p:nvPr/>
        </p:nvSpPr>
        <p:spPr>
          <a:xfrm>
            <a:off x="1046746" y="586822"/>
            <a:ext cx="356025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🚀 Now Dispatch an Action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dispatch(addToCart());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This updates: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state.products.count += 1;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33B8DFE-B1EB-7DCE-569F-BCE32D4D2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164" y="586822"/>
            <a:ext cx="6002636" cy="16459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🔥 What Re-renders?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C63E5C8-69AA-A0C6-E31D-3B6D7C049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09851"/>
              </p:ext>
            </p:extLst>
          </p:nvPr>
        </p:nvGraphicFramePr>
        <p:xfrm>
          <a:off x="666866" y="2866644"/>
          <a:ext cx="10946660" cy="3218688"/>
        </p:xfrm>
        <a:graphic>
          <a:graphicData uri="http://schemas.openxmlformats.org/drawingml/2006/table">
            <a:tbl>
              <a:tblPr/>
              <a:tblGrid>
                <a:gridCol w="2742777">
                  <a:extLst>
                    <a:ext uri="{9D8B030D-6E8A-4147-A177-3AD203B41FA5}">
                      <a16:colId xmlns:a16="http://schemas.microsoft.com/office/drawing/2014/main" val="3295347038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463134529"/>
                    </a:ext>
                  </a:extLst>
                </a:gridCol>
                <a:gridCol w="5298123">
                  <a:extLst>
                    <a:ext uri="{9D8B030D-6E8A-4147-A177-3AD203B41FA5}">
                      <a16:colId xmlns:a16="http://schemas.microsoft.com/office/drawing/2014/main" val="821293945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Component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Re-renders?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Why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55899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CartCount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✅ Yes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It subscribes to </a:t>
                      </a:r>
                      <a:r>
                        <a:rPr lang="en-US" sz="3300">
                          <a:latin typeface="Courier New" panose="02070309020205020404" pitchFamily="49" charset="0"/>
                        </a:rPr>
                        <a:t>products.count</a:t>
                      </a:r>
                      <a:endParaRPr lang="en-US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776051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UserProfile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❌ No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It subscribes to </a:t>
                      </a:r>
                      <a:r>
                        <a:rPr lang="en-US" sz="3300">
                          <a:latin typeface="Courier New" panose="02070309020205020404" pitchFamily="49" charset="0"/>
                        </a:rPr>
                        <a:t>user.name</a:t>
                      </a:r>
                      <a:r>
                        <a:rPr lang="en-US" sz="3300"/>
                        <a:t> (unchanged)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613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596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638FA0-24D5-9190-4C8A-777BCD1A8AE8}"/>
              </a:ext>
            </a:extLst>
          </p:cNvPr>
          <p:cNvSpPr txBox="1"/>
          <p:nvPr/>
        </p:nvSpPr>
        <p:spPr>
          <a:xfrm>
            <a:off x="270933" y="135468"/>
            <a:ext cx="88730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⚖️ Now Compare With Context</a:t>
            </a:r>
          </a:p>
          <a:p>
            <a:pPr>
              <a:buNone/>
            </a:pPr>
            <a:r>
              <a:rPr lang="en-US" dirty="0"/>
              <a:t>If both values were inside ONE context:</a:t>
            </a:r>
          </a:p>
          <a:p>
            <a:r>
              <a:rPr lang="en-US" dirty="0">
                <a:latin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</a:rPr>
              <a:t>AppContext.Provider</a:t>
            </a:r>
            <a:r>
              <a:rPr lang="en-US" dirty="0">
                <a:latin typeface="Courier New" panose="02070309020205020404" pitchFamily="49" charset="0"/>
              </a:rPr>
              <a:t> value={{ count, name }}&gt;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/>
              <a:t>If count changes:</a:t>
            </a:r>
            <a:br>
              <a:rPr lang="en-US" dirty="0"/>
            </a:br>
            <a:r>
              <a:rPr lang="en-US" dirty="0"/>
              <a:t>→ ALL components using that context re-render</a:t>
            </a:r>
            <a:br>
              <a:rPr lang="en-US" dirty="0"/>
            </a:br>
            <a:r>
              <a:rPr lang="en-US" dirty="0"/>
              <a:t>→ Even if they only use name</a:t>
            </a:r>
          </a:p>
          <a:p>
            <a:r>
              <a:rPr lang="en-US" dirty="0"/>
              <a:t>That’s the key performance difference.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021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1178</TotalTime>
  <Words>629</Words>
  <Application>Microsoft Office PowerPoint</Application>
  <PresentationFormat>Widescreen</PresentationFormat>
  <Paragraphs>156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Vedika Gujar</dc:creator>
  <cp:lastModifiedBy>Vedika Gujar</cp:lastModifiedBy>
  <cp:revision>3</cp:revision>
  <dcterms:created xsi:type="dcterms:W3CDTF">2026-02-15T09:03:06Z</dcterms:created>
  <dcterms:modified xsi:type="dcterms:W3CDTF">2026-02-16T04:41:45Z</dcterms:modified>
</cp:coreProperties>
</file>