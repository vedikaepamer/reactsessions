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58" r:id="rId5"/>
    <p:sldId id="264" r:id="rId6"/>
    <p:sldId id="266" r:id="rId7"/>
    <p:sldId id="261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04970-6CEB-4945-BE96-AAAFFC57B088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73533-80EC-4FDF-AD27-2FCB99D0B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05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73533-80EC-4FDF-AD27-2FCB99D0B8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577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ACA4-F8D9-C675-B4E7-58724EA84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345D8-5926-2B74-B116-8E6BCEED1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83B01-1C95-DFAA-FE0F-C03EE4F6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A2F3-446F-489D-C2A4-B5C7778A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7DFE1-A29C-FB38-FED4-AC9E3AD6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41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5873-5FFF-C3C2-947A-73138C8BD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83E9-12F6-2821-4046-3905C051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B2701-3FDE-C935-3846-D245CC76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7697-7CA8-CB86-131C-43893972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2BE9A-964E-55FB-4359-F40AAB7A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5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7665-EF92-AF4F-5C20-990A0E26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A515C-46C5-F2F5-51B3-5DFB59A18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C5726-96A6-F247-F1E2-DD51D318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D1D10-8CC9-06E2-7B0F-0DEAA46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5CA84-73A3-BE6C-2A32-B3652C23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63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EADB-05BE-6B00-6B9F-BAC05D0D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F6E1-8B16-B9B0-26C2-E1CE7E0BF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34DB2-0A57-8253-CA86-4BE3C424F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2147-CF48-9305-EF75-E59063A2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98F9B-F891-F0AB-BA64-5ED8CA90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D35A1-4DC3-95EF-F516-DE865697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48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ED3F-9872-CB7A-72A8-D340BD49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A012C-3078-B85C-B2AF-1AB0AFC28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D401F-C0AB-8017-38E1-1D5DCED70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7427B-DD5D-759A-52F3-D1FB59738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28943-307F-173A-8656-0E8FFAEB8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B1153-7000-35D1-BD54-C0312798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5D79E-8009-9C78-CBC8-7B8AB553B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17B79-15AF-E9FB-B938-6428608F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677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DB7C-BD12-4B3E-BA94-BDBE658D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8BA77-41EC-2757-8D40-1E0ECDD5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045C7-654F-8319-9398-37578AEE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4C089-0F79-0314-1D15-0055D3C7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4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3124E-11D8-DC22-C81C-144B5ED4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5BEB2-F22F-9673-10A2-EF97AEF2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CB62B-6997-70B8-E645-F1C69D1B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88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9289F-8DBC-F8CA-1672-FCCCF0B0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4AF8-8EF7-F7CC-F4D5-75FCC4B90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7305B-FB55-F559-30A6-DF58E3DC1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69B75-4469-C585-F3D8-D6CB740A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EC03E-ECF9-66CB-038D-4ECCD38A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9A4A1-55C5-A320-C383-C7EA7EE3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95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CA4D-71FA-EFD2-8895-ED98939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39701-9109-FCE7-5AE8-0C1E3B408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0800A-A58F-D6C9-6038-F4AB206FA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D0CC7-1D51-A331-2BCB-A1A8460A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DFA01-B241-35FF-38FD-40F8D584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939A3-78B7-499B-F771-085AA15E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1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7095-7B25-4AF8-4EE4-B2E1138F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79A5B-0AD5-A24A-E69A-4CB640123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C7FE1-509B-9110-5ACB-FE9FF586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14D0A-52B0-A60F-C335-8DA8651B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E2D7D-CFE2-CC65-A77F-260CF311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12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8C2888-CBB8-905E-3193-A7E130E05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D6F5E-637D-F39F-DC7A-BA6B5E6EE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13BB3-045A-F7DB-7F62-C95401A4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D15A5-5B5F-F717-AEC0-83022C768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99878-7F7B-72C0-FB28-A1C853B6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10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3C45C-A60C-4434-3341-AFDD2A2C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FCCC1-08C2-8B3B-F786-4F3531B2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6073C-AB24-3CEB-61CC-7E7300EA3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F2EE3-85D5-5F1C-3F2B-0E84A30EF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AC713-F9B3-BC54-3503-86629D5DD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6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76EA51-E4D8-31F6-C488-6E02940AF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400"/>
            <a:ext cx="9144000" cy="5918200"/>
          </a:xfrm>
        </p:spPr>
        <p:txBody>
          <a:bodyPr/>
          <a:lstStyle/>
          <a:p>
            <a:r>
              <a:rPr lang="en-US" dirty="0"/>
              <a:t>React is a powerful JavaScript library that makes it easy to build dynamic user interfaces. One of the key features of React is its efficient handling of the DOM (Document Object Model).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React uses a concept called the </a:t>
            </a:r>
            <a:r>
              <a:rPr lang="en-US" b="1" dirty="0"/>
              <a:t>Virtual DOM</a:t>
            </a:r>
            <a:r>
              <a:rPr lang="en-US" dirty="0"/>
              <a:t> to optimize rendering performance and ensure fast, responsive applications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Reconciliation </a:t>
            </a:r>
            <a:r>
              <a:rPr lang="en-US" dirty="0"/>
              <a:t>is the process</a:t>
            </a:r>
            <a:r>
              <a:rPr lang="en-US" b="1" dirty="0"/>
              <a:t> React</a:t>
            </a:r>
            <a:r>
              <a:rPr lang="en-US" dirty="0"/>
              <a:t> uses to figure out how to efficiently update the DOM (Document Object Model) when changes occur in the UI.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React's</a:t>
            </a:r>
            <a:r>
              <a:rPr lang="en-US" dirty="0"/>
              <a:t> goal is to update the page as efficiently as possible, without unnecessary re-rendering or slow performance.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71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58A51-DA80-B869-774D-AEE72339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6AB99-F8F6-A4B8-C256-73F6FD953E1E}"/>
              </a:ext>
            </a:extLst>
          </p:cNvPr>
          <p:cNvSpPr txBox="1"/>
          <p:nvPr/>
        </p:nvSpPr>
        <p:spPr>
          <a:xfrm>
            <a:off x="0" y="1767007"/>
            <a:ext cx="12192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1800"/>
              </a:spcAft>
            </a:pPr>
            <a:r>
              <a:rPr lang="en-US" b="1" dirty="0"/>
              <a:t>Reconciliation helps in the following ways: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Minimizes unnecessary updates: React only changes the parts of the UI that actually need to be updated, rather than re-rendering the entire page.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Improves performance: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By optimizing the update process, React reduces the number of changes to the actual DOM, which improves the performance of your application.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Ensures consistency: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React ensures that the UI always matches the current state of your application, even as it changes over time.</a:t>
            </a:r>
          </a:p>
        </p:txBody>
      </p:sp>
    </p:spTree>
    <p:extLst>
      <p:ext uri="{BB962C8B-B14F-4D97-AF65-F5344CB8AC3E}">
        <p14:creationId xmlns:p14="http://schemas.microsoft.com/office/powerpoint/2010/main" val="213113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8BC44F-F86F-B574-B7B5-F35621A3DA4F}"/>
              </a:ext>
            </a:extLst>
          </p:cNvPr>
          <p:cNvSpPr txBox="1"/>
          <p:nvPr/>
        </p:nvSpPr>
        <p:spPr>
          <a:xfrm>
            <a:off x="0" y="235184"/>
            <a:ext cx="12192000" cy="6334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1. 🏗️ Mounting Phase: Initial Rendering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US" b="1" i="0" dirty="0">
              <a:solidFill>
                <a:srgbClr val="242424"/>
              </a:solidFill>
              <a:effectLst/>
              <a:latin typeface="sohne"/>
            </a:endParaRP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mounting phase is the first stage in the lifecycle of a React component. 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During this phase, a component is created and added to the DOM for the first time. 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This is where the initial setup occurs, such as setting up state and rendering the component.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Virtual DOM 🧑‍💻: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React creates the component and builds its virtual DOM structure.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component’s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render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method is called, returning the virtual DOM.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Real DOM 🌍: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React reconciles the virtual DOM with the real DOM, applying changes.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After the real DOM is updated, the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useEffect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hook with an empty dependency array (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[]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) runs, acting like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componentDidMount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en-US" b="1" dirty="0"/>
              <a:t>Key Hook 🛠️:</a:t>
            </a:r>
          </a:p>
          <a:p>
            <a:r>
              <a:rPr lang="en-US" dirty="0" err="1"/>
              <a:t>useEffect</a:t>
            </a:r>
            <a:r>
              <a:rPr lang="en-US" dirty="0"/>
              <a:t>(() =&gt; { }, []): Runs once after the component mounts.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349181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9E9D-08FE-9585-D63D-EC491DCA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3390F2-4F05-C630-2DB7-9738DD919CC5}"/>
              </a:ext>
            </a:extLst>
          </p:cNvPr>
          <p:cNvSpPr txBox="1"/>
          <p:nvPr/>
        </p:nvSpPr>
        <p:spPr>
          <a:xfrm>
            <a:off x="0" y="235184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🔄 Updating Phase: </a:t>
            </a:r>
            <a:r>
              <a:rPr lang="en-US" b="1" dirty="0" err="1"/>
              <a:t>Rerendering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r>
              <a:rPr lang="en-US" dirty="0"/>
              <a:t>The updating phase occurs when the component re-renders due to changes in state, props, or when its parent component re-renders.</a:t>
            </a:r>
            <a:br>
              <a:rPr lang="en-US" dirty="0"/>
            </a:br>
            <a:r>
              <a:rPr lang="en-US" dirty="0"/>
              <a:t>React efficiently updates the UI by comparing the new virtual DOM with the previous one and applying the minimal changes to the real DOM.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Virtual DOM 🧑‍💻:</a:t>
            </a:r>
          </a:p>
          <a:p>
            <a:r>
              <a:rPr lang="en-US" dirty="0"/>
              <a:t>React detects changes in state or props and re-executes the render method.</a:t>
            </a:r>
          </a:p>
          <a:p>
            <a:r>
              <a:rPr lang="en-US" dirty="0"/>
              <a:t>A new virtual DOM is created and compared to the previous one.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Real DOM 🌍:</a:t>
            </a:r>
          </a:p>
          <a:p>
            <a:r>
              <a:rPr lang="en-US" dirty="0"/>
              <a:t>React updates the real DOM based on the changes in the virtual DOM.</a:t>
            </a:r>
          </a:p>
          <a:p>
            <a:r>
              <a:rPr lang="en-US" dirty="0"/>
              <a:t>After the update, the </a:t>
            </a:r>
            <a:r>
              <a:rPr lang="en-US" dirty="0" err="1"/>
              <a:t>useEffect</a:t>
            </a:r>
            <a:r>
              <a:rPr lang="en-US" dirty="0"/>
              <a:t> hook runs again if dependencies change, similar to </a:t>
            </a:r>
            <a:r>
              <a:rPr lang="en-US" dirty="0" err="1"/>
              <a:t>componentDidUpdate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Key Hook 🛠️:</a:t>
            </a:r>
          </a:p>
          <a:p>
            <a:r>
              <a:rPr lang="en-US" dirty="0" err="1"/>
              <a:t>useEffect</a:t>
            </a:r>
            <a:r>
              <a:rPr lang="en-US" dirty="0"/>
              <a:t>(() =&gt; { }, [dependencies]): Runs after the component updates when specific dependencies change.</a:t>
            </a:r>
          </a:p>
        </p:txBody>
      </p:sp>
    </p:spTree>
    <p:extLst>
      <p:ext uri="{BB962C8B-B14F-4D97-AF65-F5344CB8AC3E}">
        <p14:creationId xmlns:p14="http://schemas.microsoft.com/office/powerpoint/2010/main" val="251913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C6EA-AF3C-263B-4A84-5F9F3AAD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74122-A5C4-1127-EBFD-6941296F3E6B}"/>
              </a:ext>
            </a:extLst>
          </p:cNvPr>
          <p:cNvSpPr txBox="1"/>
          <p:nvPr/>
        </p:nvSpPr>
        <p:spPr>
          <a:xfrm>
            <a:off x="0" y="235184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🧹 Unmounting Phase: Cleanup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The unmounting phase happens when a component is removed from the DOM. </a:t>
            </a:r>
            <a:br>
              <a:rPr lang="en-US" dirty="0"/>
            </a:br>
            <a:r>
              <a:rPr lang="en-US" dirty="0"/>
              <a:t>It’s important to clean up resources, such as event listeners or timers, to prevent memory leaks.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Virtual DOM 🧑‍💻:</a:t>
            </a:r>
          </a:p>
          <a:p>
            <a:r>
              <a:rPr lang="en-US" dirty="0"/>
              <a:t>The component is removed from the virtual DOM structure.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Real DOM 🌍:</a:t>
            </a:r>
          </a:p>
          <a:p>
            <a:r>
              <a:rPr lang="en-US" dirty="0"/>
              <a:t>The corresponding real DOM nodes are removed.</a:t>
            </a:r>
          </a:p>
          <a:p>
            <a:r>
              <a:rPr lang="en-US" dirty="0"/>
              <a:t>The cleanup function in </a:t>
            </a:r>
            <a:r>
              <a:rPr lang="en-US" dirty="0" err="1"/>
              <a:t>useEffect</a:t>
            </a:r>
            <a:r>
              <a:rPr lang="en-US" dirty="0"/>
              <a:t> is called before the component is unmounted, allowing for resource cleanup.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Key Hook 🛠️:</a:t>
            </a:r>
          </a:p>
          <a:p>
            <a:r>
              <a:rPr lang="en-US" dirty="0" err="1"/>
              <a:t>useEffect</a:t>
            </a:r>
            <a:r>
              <a:rPr lang="en-US" dirty="0"/>
              <a:t>(() =&gt; { return () =&gt; { } }, []): The cleanup function runs before the component is unmounted, similar to </a:t>
            </a:r>
            <a:r>
              <a:rPr lang="en-US" dirty="0" err="1"/>
              <a:t>componentWillUnmount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263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1E1A6734-3052-1814-31F4-66EA2DF10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🔑 When key IS PROVIDED (and changes)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👉 </a:t>
            </a: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Component is unmounted and remounted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E505A2E-58B9-EBFF-AF10-EE3E357C3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406798"/>
              </p:ext>
            </p:extLst>
          </p:nvPr>
        </p:nvGraphicFramePr>
        <p:xfrm>
          <a:off x="4038600" y="1586138"/>
          <a:ext cx="7188199" cy="368233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4824120">
                  <a:extLst>
                    <a:ext uri="{9D8B030D-6E8A-4147-A177-3AD203B41FA5}">
                      <a16:colId xmlns:a16="http://schemas.microsoft.com/office/drawing/2014/main" val="1401248636"/>
                    </a:ext>
                  </a:extLst>
                </a:gridCol>
                <a:gridCol w="2364079">
                  <a:extLst>
                    <a:ext uri="{9D8B030D-6E8A-4147-A177-3AD203B41FA5}">
                      <a16:colId xmlns:a16="http://schemas.microsoft.com/office/drawing/2014/main" val="1293441423"/>
                    </a:ext>
                  </a:extLst>
                </a:gridCol>
              </a:tblGrid>
              <a:tr h="92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Order</a:t>
                      </a: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5839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 cleanup (unmount)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>
                          <a:solidFill>
                            <a:schemeClr val="bg1"/>
                          </a:solidFill>
                        </a:rPr>
                        <a:t>Parent → Child</a:t>
                      </a:r>
                      <a:endParaRPr lang="en-IN" sz="3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0292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 mount (new instance)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>
                          <a:solidFill>
                            <a:schemeClr val="bg1"/>
                          </a:solidFill>
                        </a:rPr>
                        <a:t>Child → Parent</a:t>
                      </a:r>
                      <a:endParaRPr lang="en-IN" sz="3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05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08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736C8-9313-5C61-B150-2B65D203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6DDE0C2-8590-E6BF-A7F6-CBD585DD9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0543E2-92E1-DA55-7EC9-E26FEFFE7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8C06818-9C43-1D3D-0860-D38757805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🔑 When key IS NOT PROVIDED</a:t>
            </a:r>
            <a:b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👉 Component is reused (no </a:t>
            </a:r>
            <a:r>
              <a:rPr kumimoji="0" lang="en-US" altLang="en-US" sz="22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unmount</a:t>
            </a: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)</a:t>
            </a:r>
            <a:b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👉 Effect is re-run, not unmounted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60333DE-80CB-01CD-1179-6A86202B6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42154"/>
              </p:ext>
            </p:extLst>
          </p:nvPr>
        </p:nvGraphicFramePr>
        <p:xfrm>
          <a:off x="4038600" y="1586138"/>
          <a:ext cx="7188199" cy="368233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4824120">
                  <a:extLst>
                    <a:ext uri="{9D8B030D-6E8A-4147-A177-3AD203B41FA5}">
                      <a16:colId xmlns:a16="http://schemas.microsoft.com/office/drawing/2014/main" val="1401248636"/>
                    </a:ext>
                  </a:extLst>
                </a:gridCol>
                <a:gridCol w="2364079">
                  <a:extLst>
                    <a:ext uri="{9D8B030D-6E8A-4147-A177-3AD203B41FA5}">
                      <a16:colId xmlns:a16="http://schemas.microsoft.com/office/drawing/2014/main" val="1293441423"/>
                    </a:ext>
                  </a:extLst>
                </a:gridCol>
              </a:tblGrid>
              <a:tr h="92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Order</a:t>
                      </a: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5839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 cleanup (re-run)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 dirty="0">
                          <a:solidFill>
                            <a:schemeClr val="bg1"/>
                          </a:solidFill>
                        </a:rPr>
                        <a:t>Child → Parent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0292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 re-run (mount logic)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 dirty="0">
                          <a:solidFill>
                            <a:schemeClr val="bg1"/>
                          </a:solidFill>
                        </a:rPr>
                        <a:t>Child → Parent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05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38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F9394E-8885-CF1E-7515-4922B7C01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71625"/>
              </p:ext>
            </p:extLst>
          </p:nvPr>
        </p:nvGraphicFramePr>
        <p:xfrm>
          <a:off x="1153686" y="1706500"/>
          <a:ext cx="8219602" cy="3445002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3262870">
                  <a:extLst>
                    <a:ext uri="{9D8B030D-6E8A-4147-A177-3AD203B41FA5}">
                      <a16:colId xmlns:a16="http://schemas.microsoft.com/office/drawing/2014/main" val="3124065855"/>
                    </a:ext>
                  </a:extLst>
                </a:gridCol>
                <a:gridCol w="4956732">
                  <a:extLst>
                    <a:ext uri="{9D8B030D-6E8A-4147-A177-3AD203B41FA5}">
                      <a16:colId xmlns:a16="http://schemas.microsoft.com/office/drawing/2014/main" val="1093852257"/>
                    </a:ext>
                  </a:extLst>
                </a:gridCol>
              </a:tblGrid>
              <a:tr h="980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 dirty="0">
                          <a:solidFill>
                            <a:schemeClr val="bg1"/>
                          </a:solidFill>
                        </a:rPr>
                        <a:t>What React does</a:t>
                      </a: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724029"/>
                  </a:ext>
                </a:extLst>
              </a:tr>
              <a:tr h="980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key</a:t>
                      </a:r>
                      <a:r>
                        <a:rPr lang="en-IN" sz="3300" cap="none" spc="0">
                          <a:solidFill>
                            <a:schemeClr val="bg1"/>
                          </a:solidFill>
                        </a:rPr>
                        <a:t> changes</a:t>
                      </a: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 cap="none" spc="0">
                          <a:solidFill>
                            <a:schemeClr val="bg1"/>
                          </a:solidFill>
                        </a:rPr>
                        <a:t>Unmount + Mount</a:t>
                      </a:r>
                      <a:endParaRPr lang="en-IN" sz="3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984461"/>
                  </a:ext>
                </a:extLst>
              </a:tr>
              <a:tr h="1483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 dirty="0">
                          <a:solidFill>
                            <a:schemeClr val="bg1"/>
                          </a:solidFill>
                        </a:rPr>
                        <a:t>No </a:t>
                      </a:r>
                      <a:r>
                        <a:rPr lang="en-IN" sz="3300" cap="none" spc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key</a:t>
                      </a:r>
                      <a:endParaRPr lang="en-IN" sz="33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1460" marR="251460" marT="251460" marB="125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 cap="none" spc="0" dirty="0">
                          <a:solidFill>
                            <a:schemeClr val="bg1"/>
                          </a:solidFill>
                        </a:rPr>
                        <a:t>Re-render + Effect re-run</a:t>
                      </a:r>
                      <a:endParaRPr lang="en-IN" sz="33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1460" marR="251460" marT="251460" marB="125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82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597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14604</TotalTime>
  <Words>713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Nunito</vt:lpstr>
      <vt:lpstr>sohne</vt:lpstr>
      <vt:lpstr>source-code-pro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Vedika Gujar</dc:creator>
  <cp:lastModifiedBy>Vedika Gujar</cp:lastModifiedBy>
  <cp:revision>4</cp:revision>
  <dcterms:created xsi:type="dcterms:W3CDTF">2026-02-06T04:14:36Z</dcterms:created>
  <dcterms:modified xsi:type="dcterms:W3CDTF">2026-02-16T07:38:44Z</dcterms:modified>
</cp:coreProperties>
</file>